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16" d="100"/>
          <a:sy n="116" d="100"/>
        </p:scale>
        <p:origin x="8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17520" y="182880"/>
            <a:ext cx="4572000" cy="640080"/>
          </a:xfrm>
          <a:prstGeom prst="roundRect">
            <a:avLst/>
          </a:prstGeom>
          <a:solidFill>
            <a:srgbClr val="E8F4F8"/>
          </a:solidFill>
          <a:ln w="15875">
            <a:solidFill>
              <a:srgbClr val="1F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222222"/>
                </a:solidFill>
                <a:latin typeface="Calibri"/>
              </a:rPr>
              <a:t>Source population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N = 32,969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03520" y="822960"/>
            <a:ext cx="0" cy="4572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743200" y="868680"/>
            <a:ext cx="5120640" cy="640080"/>
          </a:xfrm>
          <a:prstGeom prst="roundRect">
            <a:avLst/>
          </a:prstGeom>
          <a:solidFill>
            <a:srgbClr val="FFF3CD"/>
          </a:solidFill>
          <a:ln w="15875">
            <a:solidFill>
              <a:srgbClr val="8564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HPV vaccine ascertained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Vaccinated 2,156  /  Unvaccinated 30,813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2743200" y="1508760"/>
            <a:ext cx="2560320" cy="18288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303520" y="1508760"/>
            <a:ext cx="2560320" cy="18288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94359" y="1691640"/>
            <a:ext cx="4297680" cy="640080"/>
          </a:xfrm>
          <a:prstGeom prst="roundRect">
            <a:avLst/>
          </a:prstGeom>
          <a:solidFill>
            <a:srgbClr val="D4EDDA"/>
          </a:solidFill>
          <a:ln w="15875">
            <a:solidFill>
              <a:srgbClr val="155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222222"/>
                </a:solidFill>
                <a:latin typeface="Calibri"/>
              </a:rPr>
              <a:t>COHORT A — </a:t>
            </a:r>
            <a:r>
              <a:rPr lang="en-US" sz="1600" b="1">
                <a:solidFill>
                  <a:srgbClr val="222222"/>
                </a:solidFill>
                <a:latin typeface="Calibri"/>
              </a:rPr>
              <a:t>Long-term </a:t>
            </a:r>
            <a:r>
              <a:rPr sz="1600" b="1">
                <a:solidFill>
                  <a:srgbClr val="222222"/>
                </a:solidFill>
                <a:latin typeface="Calibri"/>
              </a:rPr>
              <a:t>Safety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691640"/>
            <a:ext cx="4297680" cy="640080"/>
          </a:xfrm>
          <a:prstGeom prst="roundRect">
            <a:avLst/>
          </a:prstGeom>
          <a:solidFill>
            <a:srgbClr val="FDE2E4"/>
          </a:solidFill>
          <a:ln w="15875">
            <a:solidFill>
              <a:srgbClr val="9B2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222222"/>
                </a:solidFill>
                <a:latin typeface="Calibri"/>
              </a:rPr>
              <a:t>COHORT B — </a:t>
            </a:r>
            <a:r>
              <a:rPr lang="en-US" sz="1600" b="1">
                <a:solidFill>
                  <a:srgbClr val="222222"/>
                </a:solidFill>
                <a:latin typeface="Calibri"/>
              </a:rPr>
              <a:t>Post-surgical </a:t>
            </a:r>
            <a:r>
              <a:rPr sz="1600" b="1">
                <a:solidFill>
                  <a:srgbClr val="222222"/>
                </a:solidFill>
                <a:latin typeface="Calibri"/>
              </a:rPr>
              <a:t>Efficacy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331720"/>
            <a:ext cx="0" cy="18288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94359" y="2514600"/>
            <a:ext cx="4297680" cy="640080"/>
          </a:xfrm>
          <a:prstGeom prst="roundRect">
            <a:avLst/>
          </a:prstGeom>
          <a:solidFill>
            <a:srgbClr val="EAF6EE"/>
          </a:solidFill>
          <a:ln w="15875">
            <a:solidFill>
              <a:srgbClr val="155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Eligibility check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+ pseudo index date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3154680"/>
            <a:ext cx="0" cy="20574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4359" y="3360420"/>
            <a:ext cx="4297680" cy="777240"/>
          </a:xfrm>
          <a:prstGeom prst="roundRect">
            <a:avLst/>
          </a:prstGeom>
          <a:solidFill>
            <a:srgbClr val="EAF6EE"/>
          </a:solidFill>
          <a:ln w="15875">
            <a:solidFill>
              <a:srgbClr val="155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Propensity-score model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+ 1:1 matching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3200" y="4137659"/>
            <a:ext cx="0" cy="297181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4359" y="4434840"/>
            <a:ext cx="4297680" cy="1463040"/>
          </a:xfrm>
          <a:prstGeom prst="roundRect">
            <a:avLst/>
          </a:prstGeom>
          <a:solidFill>
            <a:srgbClr val="A8D5B5"/>
          </a:solidFill>
          <a:ln w="15875">
            <a:solidFill>
              <a:srgbClr val="155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222222"/>
                </a:solidFill>
                <a:latin typeface="Calibri"/>
              </a:rPr>
              <a:t>Final Cohort A   n = 4,102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Vaccinated 2,051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Unvaccinated 2,051</a:t>
            </a:r>
          </a:p>
          <a:p>
            <a:pPr algn="ctr"/>
            <a:endParaRPr sz="1300" b="0">
              <a:solidFill>
                <a:srgbClr val="222222"/>
              </a:solidFill>
              <a:latin typeface="Calibri"/>
            </a:endParaRP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Outcomes: 5 chronic conditions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2331720"/>
            <a:ext cx="0" cy="18288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715000" y="2514600"/>
            <a:ext cx="4297680" cy="640080"/>
          </a:xfrm>
          <a:prstGeom prst="roundRect">
            <a:avLst/>
          </a:prstGeom>
          <a:solidFill>
            <a:srgbClr val="FDEDEE"/>
          </a:solidFill>
          <a:ln w="15875">
            <a:solidFill>
              <a:srgbClr val="9B2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Cervical surgery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n = 6,890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63840" y="3154680"/>
            <a:ext cx="0" cy="205740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715000" y="3360420"/>
            <a:ext cx="4297680" cy="777240"/>
          </a:xfrm>
          <a:prstGeom prst="roundRect">
            <a:avLst/>
          </a:prstGeom>
          <a:solidFill>
            <a:srgbClr val="FDEDEE"/>
          </a:solidFill>
          <a:ln w="15875">
            <a:solidFill>
              <a:srgbClr val="9B2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1:up-to-5 initial match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Calibri"/>
              </a:rPr>
              <a:t>Vac 411  /  Non-vac 1,815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63840" y="4137659"/>
            <a:ext cx="0" cy="297181"/>
          </a:xfrm>
          <a:prstGeom prst="line">
            <a:avLst/>
          </a:prstGeom>
          <a:ln w="16510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715000" y="4434840"/>
            <a:ext cx="4297680" cy="1463040"/>
          </a:xfrm>
          <a:prstGeom prst="roundRect">
            <a:avLst/>
          </a:prstGeom>
          <a:solidFill>
            <a:srgbClr val="F4A4A8"/>
          </a:solidFill>
          <a:ln w="15875">
            <a:solidFill>
              <a:srgbClr val="9B2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222222"/>
                </a:solidFill>
                <a:latin typeface="Calibri"/>
              </a:rPr>
              <a:t>Final Cohort B   n = 1,108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Vaccinated 241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Unvaccinated 867</a:t>
            </a:r>
          </a:p>
          <a:p>
            <a:pPr algn="ctr"/>
            <a:endParaRPr sz="1300" b="0">
              <a:solidFill>
                <a:srgbClr val="222222"/>
              </a:solidFill>
              <a:latin typeface="Calibri"/>
            </a:endParaRPr>
          </a:p>
          <a:p>
            <a:pPr algn="ctr"/>
            <a:r>
              <a:rPr sz="1300" b="0">
                <a:solidFill>
                  <a:srgbClr val="222222"/>
                </a:solidFill>
                <a:latin typeface="Calibri"/>
              </a:rPr>
              <a:t>Outcomes: recurrence, HPV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igure1_CohortSelection.png" title="Figure1_CohortSelection.png">
            <a:extLst>
              <a:ext uri="{FF2B5EF4-FFF2-40B4-BE49-F238E27FC236}">
                <a16:creationId xmlns:a16="http://schemas.microsoft.com/office/drawing/2014/main" id="{692250DA-55CC-0DD9-14D4-7C7614AE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236912" y="1290637"/>
            <a:ext cx="5715000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521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79</Words>
  <Application>Microsoft Macintosh PowerPoint</Application>
  <PresentationFormat>Custom</PresentationFormat>
  <Paragraphs>24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suein choi</cp:lastModifiedBy>
  <cp:revision>2</cp:revision>
  <dcterms:created xsi:type="dcterms:W3CDTF">2013-01-27T09:14:16Z</dcterms:created>
  <dcterms:modified xsi:type="dcterms:W3CDTF">2026-05-08T12:40:06Z</dcterms:modified>
  <cp:category/>
</cp:coreProperties>
</file>