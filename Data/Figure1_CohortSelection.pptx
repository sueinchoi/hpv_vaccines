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17520" y="182880"/>
            <a:ext cx="4572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Source population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Arial"/>
              </a:rPr>
              <a:t>N = 32,969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0" y="822960"/>
            <a:ext cx="0" cy="45720"/>
          </a:xfrm>
          <a:prstGeom prst="line">
            <a:avLst/>
          </a:prstGeom>
          <a:ln w="127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651760" y="868680"/>
            <a:ext cx="53035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0">
                <a:solidFill>
                  <a:srgbClr val="000000"/>
                </a:solidFill>
                <a:latin typeface="Arial"/>
              </a:rPr>
              <a:t>HPV vaccine prescription ascertained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Arial"/>
              </a:rPr>
              <a:t>Vaccinated 2,156        Unvaccinated 30,813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2743200" y="1508760"/>
            <a:ext cx="2560320" cy="182880"/>
          </a:xfrm>
          <a:prstGeom prst="line">
            <a:avLst/>
          </a:prstGeom>
          <a:ln w="127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303520" y="1508760"/>
            <a:ext cx="2560320" cy="182880"/>
          </a:xfrm>
          <a:prstGeom prst="line">
            <a:avLst/>
          </a:prstGeom>
          <a:ln w="127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94359" y="1691640"/>
            <a:ext cx="4297680" cy="6400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Cohort A — chronic-disease safety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691640"/>
            <a:ext cx="4297680" cy="6400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Cohort B — post-surgical efficacy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2331720"/>
            <a:ext cx="0" cy="182880"/>
          </a:xfrm>
          <a:prstGeom prst="line">
            <a:avLst/>
          </a:prstGeom>
          <a:ln w="127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94359" y="2514600"/>
            <a:ext cx="4297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0">
                <a:solidFill>
                  <a:srgbClr val="000000"/>
                </a:solidFill>
                <a:latin typeface="Arial"/>
              </a:rPr>
              <a:t>Eligibility (index date ≤ 31 Dec 2024)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Pseudo-index assigned to unvaccinated controls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0" y="3154680"/>
            <a:ext cx="0" cy="251460"/>
          </a:xfrm>
          <a:prstGeom prst="line">
            <a:avLst/>
          </a:prstGeom>
          <a:ln w="127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94359" y="3406140"/>
            <a:ext cx="42976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0">
                <a:solidFill>
                  <a:srgbClr val="000000"/>
                </a:solidFill>
                <a:latin typeface="Arial"/>
              </a:rPr>
              <a:t>1:1 propensity-score matching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(caliper 0.2 × SD of logit PS)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+ ≥2 doses + 3-month landmark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(matched-pair integrity preserved)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43200" y="4274820"/>
            <a:ext cx="0" cy="274320"/>
          </a:xfrm>
          <a:prstGeom prst="line">
            <a:avLst/>
          </a:prstGeom>
          <a:ln w="127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94359" y="4549140"/>
            <a:ext cx="4297680" cy="1508760"/>
          </a:xfrm>
          <a:prstGeom prst="roundRect">
            <a:avLst/>
          </a:prstGeom>
          <a:solidFill>
            <a:srgbClr val="E6E6E6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Final analytic Cohort A   n = 2,776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Vaccinated 1,396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Unvaccinated 1,380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Outcomes: 5 chronic conditions + composites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63840" y="2331720"/>
            <a:ext cx="0" cy="182880"/>
          </a:xfrm>
          <a:prstGeom prst="line">
            <a:avLst/>
          </a:prstGeom>
          <a:ln w="127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715000" y="2514600"/>
            <a:ext cx="4297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0">
                <a:solidFill>
                  <a:srgbClr val="000000"/>
                </a:solidFill>
                <a:latin typeface="Arial"/>
              </a:rPr>
              <a:t>Cervical surgery (conization or hysterectomy)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n = 6,890       Eligibility index date ≤ 31 Dec 2024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63840" y="3154680"/>
            <a:ext cx="0" cy="251460"/>
          </a:xfrm>
          <a:prstGeom prst="line">
            <a:avLst/>
          </a:prstGeom>
          <a:ln w="127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715000" y="3406140"/>
            <a:ext cx="42976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0">
                <a:solidFill>
                  <a:srgbClr val="000000"/>
                </a:solidFill>
                <a:latin typeface="Arial"/>
              </a:rPr>
              <a:t>Variable-ratio matching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(1:up-to-5 then 1:up-to-4 fine matching)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+ ≥2 doses + 3-month landmark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(matched-set integrity preserved)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63840" y="4274820"/>
            <a:ext cx="0" cy="274320"/>
          </a:xfrm>
          <a:prstGeom prst="line">
            <a:avLst/>
          </a:prstGeom>
          <a:ln w="127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715000" y="4549140"/>
            <a:ext cx="4297680" cy="1508760"/>
          </a:xfrm>
          <a:prstGeom prst="roundRect">
            <a:avLst/>
          </a:prstGeom>
          <a:solidFill>
            <a:srgbClr val="E6E6E6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Final analytic Cohort B   n = 912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Vaccinated 203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Unvaccinated 709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Outcomes: lesion recurrence; hr-HPV clearance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