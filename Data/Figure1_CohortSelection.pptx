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017520" y="182880"/>
            <a:ext cx="4572000" cy="640080"/>
          </a:xfrm>
          <a:prstGeom prst="roundRect">
            <a:avLst/>
          </a:prstGeom>
          <a:solidFill>
            <a:srgbClr val="E8F4F8"/>
          </a:solidFill>
          <a:ln w="15875">
            <a:solidFill>
              <a:srgbClr val="1F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22222"/>
                </a:solidFill>
                <a:latin typeface="Calibri"/>
              </a:rPr>
              <a:t>Source population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N = 32,969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03520" y="822960"/>
            <a:ext cx="0" cy="4572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743200" y="868680"/>
            <a:ext cx="5120640" cy="640080"/>
          </a:xfrm>
          <a:prstGeom prst="roundRect">
            <a:avLst/>
          </a:prstGeom>
          <a:solidFill>
            <a:srgbClr val="FFF3CD"/>
          </a:solidFill>
          <a:ln w="15875">
            <a:solidFill>
              <a:srgbClr val="8564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HPV vaccine ascertained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Vaccinated 2,156  /  Unvaccinated 30,813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2743200" y="1508760"/>
            <a:ext cx="256032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03520" y="1508760"/>
            <a:ext cx="256032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59" y="1691640"/>
            <a:ext cx="4297680" cy="640080"/>
          </a:xfrm>
          <a:prstGeom prst="roundRect">
            <a:avLst/>
          </a:prstGeom>
          <a:solidFill>
            <a:srgbClr val="D4EDDA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COHORT A —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691640"/>
            <a:ext cx="4297680" cy="640080"/>
          </a:xfrm>
          <a:prstGeom prst="roundRect">
            <a:avLst/>
          </a:prstGeom>
          <a:solidFill>
            <a:srgbClr val="FDE2E4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COHORT B — Efficacy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331720"/>
            <a:ext cx="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4359" y="2514600"/>
            <a:ext cx="4297680" cy="640080"/>
          </a:xfrm>
          <a:prstGeom prst="roundRect">
            <a:avLst/>
          </a:prstGeom>
          <a:solidFill>
            <a:srgbClr val="EAF6EE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Eligibility check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+ pseudo index date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3154680"/>
            <a:ext cx="0" cy="20574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59" y="3360420"/>
            <a:ext cx="4297680" cy="777240"/>
          </a:xfrm>
          <a:prstGeom prst="roundRect">
            <a:avLst/>
          </a:prstGeom>
          <a:solidFill>
            <a:srgbClr val="EAF6EE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Propensity-score model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+ 1:1 matching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4137659"/>
            <a:ext cx="0" cy="297181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59" y="4434840"/>
            <a:ext cx="4297680" cy="1463040"/>
          </a:xfrm>
          <a:prstGeom prst="roundRect">
            <a:avLst/>
          </a:prstGeom>
          <a:solidFill>
            <a:srgbClr val="A8D5B5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22222"/>
                </a:solidFill>
                <a:latin typeface="Calibri"/>
              </a:rPr>
              <a:t>Final Cohort A   n = 4,102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Vaccinated 2,051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Unvaccinated 2,051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Outcomes: 5 chronic conditions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2331720"/>
            <a:ext cx="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15000" y="2514600"/>
            <a:ext cx="4297680" cy="640080"/>
          </a:xfrm>
          <a:prstGeom prst="roundRect">
            <a:avLst/>
          </a:prstGeom>
          <a:solidFill>
            <a:srgbClr val="FDEDEE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Cervical surgery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n = 6,890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3154680"/>
            <a:ext cx="0" cy="20574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715000" y="3360420"/>
            <a:ext cx="4297680" cy="777240"/>
          </a:xfrm>
          <a:prstGeom prst="roundRect">
            <a:avLst/>
          </a:prstGeom>
          <a:solidFill>
            <a:srgbClr val="FDEDEE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1:up-to-5 initial match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Vac 411  /  Non-vac 1,815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0" y="4137659"/>
            <a:ext cx="0" cy="297181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715000" y="4434840"/>
            <a:ext cx="4297680" cy="1463040"/>
          </a:xfrm>
          <a:prstGeom prst="roundRect">
            <a:avLst/>
          </a:prstGeom>
          <a:solidFill>
            <a:srgbClr val="F4A4A8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22222"/>
                </a:solidFill>
                <a:latin typeface="Calibri"/>
              </a:rPr>
              <a:t>Final Cohort B   n = 1,108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Vaccinated 241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Unvaccinated 867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Outcomes: recurrence, HPV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