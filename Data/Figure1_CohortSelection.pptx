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0" y="205740"/>
            <a:ext cx="420624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Source population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N = 32,969</a:t>
            </a:r>
          </a:p>
        </p:txBody>
      </p:sp>
      <p:cxnSp>
        <p:nvCxnSpPr>
          <p:cNvPr id="3" name="Connector 2"/>
          <p:cNvCxnSpPr/>
          <p:nvPr/>
        </p:nvCxnSpPr>
        <p:spPr>
          <a:xfrm flipH="1">
            <a:off x="2926080" y="800100"/>
            <a:ext cx="2651760" cy="27432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577840" y="800100"/>
            <a:ext cx="2651760" cy="27432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074420"/>
            <a:ext cx="438912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Cohort A — chronic-disease safety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074420"/>
            <a:ext cx="438912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Cohort B — post-surgical efficacy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1668780"/>
            <a:ext cx="0" cy="18288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1851660"/>
            <a:ext cx="43891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HPV-vaccine status ascertained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Vaccinated 2,156   Unvaccinated 30,813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628900"/>
            <a:ext cx="0" cy="13716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2766060"/>
            <a:ext cx="43891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1:1 propensity-score matching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(age, BMI, BP, smoking, residence)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3543300"/>
            <a:ext cx="0" cy="13716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" y="3680460"/>
            <a:ext cx="43891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Primary exposure filter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≥2 doses + 3-month landmark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6080" y="4457700"/>
            <a:ext cx="0" cy="2286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1520" y="4480560"/>
            <a:ext cx="4389120" cy="1097280"/>
          </a:xfrm>
          <a:prstGeom prst="roundRect">
            <a:avLst/>
          </a:prstGeom>
          <a:solidFill>
            <a:srgbClr val="E6E6E6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Final analytic Cohort A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n = 2,776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Vaccinated 1,396  /  Unvaccinated 1,380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1668780"/>
            <a:ext cx="0" cy="18288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35040" y="1851660"/>
            <a:ext cx="43891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Cervical surgery (conization or hysterectomy)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n = 6,890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0" y="2628900"/>
            <a:ext cx="0" cy="13716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035040" y="2766060"/>
            <a:ext cx="43891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Post-surgery HPV-vaccine status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(vaccinated after surgery vs never)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0" y="3543300"/>
            <a:ext cx="0" cy="13716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035040" y="3680460"/>
            <a:ext cx="43891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1:4 matching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(surgery method/year/age, BMI)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0" y="4457700"/>
            <a:ext cx="0" cy="13716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035040" y="4594860"/>
            <a:ext cx="43891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Primary exposure filter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≥2 doses + 3-month landmark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0" y="5372100"/>
            <a:ext cx="0" cy="68580"/>
          </a:xfrm>
          <a:prstGeom prst="line">
            <a:avLst/>
          </a:prstGeom>
          <a:ln w="127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035040" y="5440680"/>
            <a:ext cx="4389120" cy="1097280"/>
          </a:xfrm>
          <a:prstGeom prst="roundRect">
            <a:avLst/>
          </a:prstGeom>
          <a:solidFill>
            <a:srgbClr val="E6E6E6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Final analytic Cohort B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n = 912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Vaccinated 203  /  Unvaccinated 709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